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114800" y="1097280"/>
            <a:ext cx="393192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0" y="1280160"/>
            <a:ext cx="3931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9F66"/>
                </a:solidFill>
                <a:latin typeface="Calibri Light"/>
              </a:defRPr>
            </a:pPr>
            <a:r>
              <a:t>DEEP PULSE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0" y="2011680"/>
            <a:ext cx="3931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DDDDEE"/>
                </a:solidFill>
                <a:latin typeface="Calibri"/>
              </a:defRPr>
            </a:pPr>
            <a:r>
              <a:t>The Decentralized Notification 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86000" y="3474720"/>
            <a:ext cx="7589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AAAABB"/>
                </a:solidFill>
                <a:latin typeface="Calibri"/>
              </a:defRPr>
            </a:pPr>
            <a:r>
              <a:t>Real-time push notifications, ad marketplace,</a:t>
            </a:r>
            <a:br/>
            <a:r>
              <a:t>and Swipe-to-Earn rewards for Solana Mobile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754880"/>
            <a:ext cx="219456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7160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Calibri"/>
              </a:defRPr>
            </a:pPr>
            <a:r>
              <a:t>Target Platform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166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Solana Seeker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931920" y="4754880"/>
            <a:ext cx="219456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Calibri"/>
              </a:defRPr>
            </a:pPr>
            <a:r>
              <a:t>Native Currency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0" y="5166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$SKR Token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92240" y="4754880"/>
            <a:ext cx="219456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Calibri"/>
              </a:defRPr>
            </a:pPr>
            <a:r>
              <a:t>Smart Contracts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5166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Anchor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4754880"/>
            <a:ext cx="219456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484632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AAAABB"/>
                </a:solidFill>
                <a:latin typeface="Calibri"/>
              </a:defRPr>
            </a:pPr>
            <a:r>
              <a:t>Mobile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5166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React Native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Solana Mobile users are drowning</a:t>
            </a:r>
            <a:br/>
            <a:r>
              <a:t>in fragmented information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103120"/>
            <a:ext cx="10698480" cy="868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2258568"/>
            <a:ext cx="54864" cy="54864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9456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Fragmented Notifications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560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BB"/>
                </a:solidFill>
                <a:latin typeface="Calibri"/>
              </a:defRPr>
            </a:pPr>
            <a:r>
              <a:t>DeFi, NFT, Gaming, DAO updates scattered across Twitter, Discord, Telegram — no single hub for Solana Mobile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154680"/>
            <a:ext cx="10698480" cy="868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3310128"/>
            <a:ext cx="54864" cy="54864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2461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No Direct Brand-to-User Channel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6118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BB"/>
                </a:solidFill>
                <a:latin typeface="Calibri"/>
              </a:defRPr>
            </a:pPr>
            <a:r>
              <a:t>Projects have no way to push real-time notifications to users' phones on Solana Mobile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206240"/>
            <a:ext cx="10698480" cy="868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361688"/>
            <a:ext cx="54864" cy="5486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429768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Zero Attention Monetization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BB"/>
                </a:solidFill>
                <a:latin typeface="Calibri"/>
              </a:defRPr>
            </a:pPr>
            <a:r>
              <a:t>Users spend hours consuming content but earn nothing — all value captured by centralized platforms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257800"/>
            <a:ext cx="10698480" cy="868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31520" y="5413248"/>
            <a:ext cx="54864" cy="548640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534924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Sybil &amp; Farming Attacks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57150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AAAABB"/>
                </a:solidFill>
                <a:latin typeface="Calibri"/>
              </a:defRPr>
            </a:pPr>
            <a:r>
              <a:t>Existing reward systems are easily gamed with fake accounts and bot activity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Calibri"/>
              </a:defRPr>
            </a:pPr>
            <a:r>
              <a:t>One app. All Solana notifications.</a:t>
            </a:r>
            <a:br/>
            <a:r>
              <a:t>Users earn. Brands reach.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2860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423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Unified 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Subscribe to 50+ notification hubs — DeFi, NFTs, Gaming, DAOs — all in one app with real-time push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79" y="22860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2423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37759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Ad Marketplace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9260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Brands purchase ad slots with $SKR tokens, upload creatives from phone, get reviewed by admins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8" y="22860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8" y="24231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798" y="24688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Swipe-to-Earn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8" y="29260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Users opt-in to see sponsored content on their Android lock screen and earn DEEP Score points with every swipe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41148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297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DEEP Score v2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Anti-farming gamification: diminishing returns, daily caps, streak bonuses, diversity multipliers — 5 tiers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79" y="4114800"/>
            <a:ext cx="3474720" cy="155448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0559" y="42519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9F6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59" y="429768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FFFF"/>
                </a:solidFill>
                <a:latin typeface="Calibri"/>
              </a:defRPr>
            </a:pPr>
            <a:r>
              <a:t>DAO Boost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4754880"/>
            <a:ext cx="3108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Community-funded vaults where users collectively sponsor brands — 95/5 split, auto-refund if unfunded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User Journey — 4 Steps to Earn</a:t>
            </a:r>
          </a:p>
        </p:txBody>
      </p:sp>
      <p:sp>
        <p:nvSpPr>
          <p:cNvPr id="5" name="Oval 4"/>
          <p:cNvSpPr/>
          <p:nvPr/>
        </p:nvSpPr>
        <p:spPr>
          <a:xfrm>
            <a:off x="1371600" y="2103120"/>
            <a:ext cx="914400" cy="9144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2402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0D12"/>
                </a:solidFill>
                <a:latin typeface="Calibr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22860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7A44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91840"/>
            <a:ext cx="2377440" cy="22860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66"/>
                </a:solidFill>
                <a:latin typeface="Calibri"/>
              </a:defRPr>
            </a:pPr>
            <a:r>
              <a:t>CONNECT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0233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DDEE"/>
                </a:solidFill>
                <a:latin typeface="Calibri"/>
              </a:defRPr>
            </a:pPr>
            <a:r>
              <a:t>Connect Solana wallet</a:t>
            </a:r>
            <a:br/>
            <a:r>
              <a:t>via MWA 2.0</a:t>
            </a:r>
            <a:br/>
            <a:r>
              <a:t>(Phantom / Solflare)</a:t>
            </a:r>
          </a:p>
        </p:txBody>
      </p:sp>
      <p:sp>
        <p:nvSpPr>
          <p:cNvPr id="11" name="Oval 10"/>
          <p:cNvSpPr/>
          <p:nvPr/>
        </p:nvSpPr>
        <p:spPr>
          <a:xfrm>
            <a:off x="4297680" y="2103120"/>
            <a:ext cx="914400" cy="9144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0" y="22402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0D12"/>
                </a:solidFill>
                <a:latin typeface="Calibri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22860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7A44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3291840"/>
            <a:ext cx="2377440" cy="22860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66"/>
                </a:solidFill>
                <a:latin typeface="Calibri"/>
              </a:defRPr>
            </a:pPr>
            <a:r>
              <a:t>SUBSCRIBE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40" y="40233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DDEE"/>
                </a:solidFill>
                <a:latin typeface="Calibri"/>
              </a:defRPr>
            </a:pPr>
            <a:r>
              <a:t>Browse &amp; subscribe</a:t>
            </a:r>
            <a:br/>
            <a:r>
              <a:t>to notification hubs</a:t>
            </a:r>
            <a:br/>
            <a:r>
              <a:t>(on-chain PDAs)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0" y="2103120"/>
            <a:ext cx="914400" cy="9144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0" y="22402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0D12"/>
                </a:solidFill>
                <a:latin typeface="Calibri"/>
              </a:defRPr>
            </a:pPr>
            <a: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2860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C7A44"/>
                </a:solidFill>
                <a:latin typeface="Calibri"/>
              </a:defRPr>
            </a:pPr>
            <a:r>
              <a:t>&gt;&gt;&gt;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3291840"/>
            <a:ext cx="2377440" cy="22860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9224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66"/>
                </a:solidFill>
                <a:latin typeface="Calibri"/>
              </a:defRPr>
            </a:pPr>
            <a:r>
              <a:t>ENGAGE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0233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DDEE"/>
                </a:solidFill>
                <a:latin typeface="Calibri"/>
              </a:defRPr>
            </a:pPr>
            <a:r>
              <a:t>Receive push notifs</a:t>
            </a:r>
            <a:br/>
            <a:r>
              <a:t>+ swipe lock screen ads</a:t>
            </a:r>
            <a:br/>
            <a:r>
              <a:t>(opt-in, max 15/day)</a:t>
            </a:r>
          </a:p>
        </p:txBody>
      </p:sp>
      <p:sp>
        <p:nvSpPr>
          <p:cNvPr id="23" name="Oval 22"/>
          <p:cNvSpPr/>
          <p:nvPr/>
        </p:nvSpPr>
        <p:spPr>
          <a:xfrm>
            <a:off x="10149840" y="2103120"/>
            <a:ext cx="914400" cy="9144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0" y="2240280"/>
            <a:ext cx="914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D0D12"/>
                </a:solidFill>
                <a:latin typeface="Calibri"/>
              </a:defRPr>
            </a:pPr>
            <a:r>
              <a:t>04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418320" y="3291840"/>
            <a:ext cx="2377440" cy="22860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183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9F66"/>
                </a:solidFill>
                <a:latin typeface="Calibri"/>
              </a:defRPr>
            </a:pPr>
            <a:r>
              <a:t>EARN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4023360"/>
            <a:ext cx="20116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DDDDEE"/>
                </a:solidFill>
                <a:latin typeface="Calibri"/>
              </a:defRPr>
            </a:pPr>
            <a:r>
              <a:t>Accumulate DEEP Score points</a:t>
            </a:r>
            <a:br/>
            <a:r>
              <a:t>+ climb DEEP Score tiers</a:t>
            </a:r>
            <a:br/>
            <a:r>
              <a:t>(Bronze to Legend)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DEEP SCORE V2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Anti-Farming Gamification Engine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96596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Diminishing Returns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2402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Each repeated action yields fewer points — prevents bot grinding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83464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7889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Daily 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3108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Max 15 lock screen swipes/day, 200 points cap — fair distribution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370332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6576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Streak Bonuses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977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+5% per consecutive day, up to +15% at 7+ days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457200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Diversity Multiplier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Bonus for varied actions (subscribe + swipe + feedback + boost)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440680"/>
            <a:ext cx="45720" cy="45720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3949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Cooldown Periods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7150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Min time between swipes — stops rapid automated interaction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182880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TIER SYSTEM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237744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858000" y="2377440"/>
            <a:ext cx="73152" cy="640080"/>
          </a:xfrm>
          <a:prstGeom prst="rect">
            <a:avLst/>
          </a:prstGeom>
          <a:solidFill>
            <a:srgbClr val="CD7F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132320" y="246888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D7F32"/>
                </a:solidFill>
                <a:latin typeface="Calibri"/>
              </a:defRPr>
            </a:pPr>
            <a:r>
              <a:t>Bronze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5146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0 - 299 pts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0" y="320040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0" y="3200400"/>
            <a:ext cx="73152" cy="640080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32320" y="32918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0C0C0"/>
                </a:solidFill>
                <a:latin typeface="Calibri"/>
              </a:defRPr>
            </a:pPr>
            <a:r>
              <a:t>Silver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3375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300 - 999 pts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858000" y="402336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58000" y="4023360"/>
            <a:ext cx="73152" cy="640080"/>
          </a:xfrm>
          <a:prstGeom prst="rect">
            <a:avLst/>
          </a:prstGeom>
          <a:solidFill>
            <a:srgbClr val="FFD7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3232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D700"/>
                </a:solidFill>
                <a:latin typeface="Calibri"/>
              </a:defRPr>
            </a:pPr>
            <a:r>
              <a:t>Gold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16052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1,000 - 2,499 pts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484632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858000" y="4846320"/>
            <a:ext cx="73152" cy="640080"/>
          </a:xfrm>
          <a:prstGeom prst="rect">
            <a:avLst/>
          </a:prstGeom>
          <a:solidFill>
            <a:srgbClr val="E5E4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4937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5E4E2"/>
                </a:solidFill>
                <a:latin typeface="Calibri"/>
              </a:defRPr>
            </a:pPr>
            <a:r>
              <a:t>Platinum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0" y="498348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2,500 - 4,999 pts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858000" y="5669280"/>
            <a:ext cx="4389120" cy="6400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858000" y="5669280"/>
            <a:ext cx="73152" cy="640080"/>
          </a:xfrm>
          <a:prstGeom prst="rect">
            <a:avLst/>
          </a:prstGeom>
          <a:solidFill>
            <a:srgbClr val="FF45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0" y="576072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4500"/>
                </a:solidFill>
                <a:latin typeface="Calibri"/>
              </a:defRPr>
            </a:pPr>
            <a:r>
              <a:t>Legend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01200" y="580644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0">
                <a:solidFill>
                  <a:srgbClr val="AAAABB"/>
                </a:solidFill>
                <a:latin typeface="Calibri"/>
              </a:defRPr>
            </a:pPr>
            <a:r>
              <a:t>5,000 - 10,000 pts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SWIPE-TO-EARN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Your Lock Screen = Your Reward Engine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566160" cy="41148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66"/>
                </a:solidFill>
                <a:latin typeface="Calibri"/>
              </a:defRPr>
            </a:pPr>
            <a:r>
              <a:t>How It Works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834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Opt-in via Profile &gt; Swipe-to-Earn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337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Sponsored content on Android lock screen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Swipe RIGHT = Skip (+0.2 pts)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Swipe LEFT = Engage (+0.5 pts)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8463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Points added to DEEP Score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011680"/>
            <a:ext cx="3566160" cy="41148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66"/>
                </a:solidFill>
                <a:latin typeface="Calibri"/>
              </a:defRPr>
            </a:pPr>
            <a:r>
              <a:t>Limits &amp; Fairness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Max 15 contents per day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37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Max 3 per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404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Cooldown between swipes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Diminishing returns after 10/day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8463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Can disable anytime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011680"/>
            <a:ext cx="3566160" cy="411480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66"/>
                </a:solidFill>
                <a:latin typeface="Calibri"/>
              </a:defRPr>
            </a:pPr>
            <a:r>
              <a:t>Revenue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83464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Brands pay $SKR for lock screen slots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337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Premium placement = higher CPM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84048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1080x1920 full-screen creatives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34340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Admin approval required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84632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Users earn DEEP Score points per swipe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AD MARKETPLACE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Brands Buy Slots. Upload Creatives.</a:t>
            </a:r>
            <a:br/>
            <a:r>
              <a:t>Reach Engaged Solana Users.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377440"/>
            <a:ext cx="3566160" cy="34747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6517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66"/>
                </a:solidFill>
                <a:latin typeface="Calibri"/>
              </a:defRPr>
            </a:pPr>
            <a:r>
              <a:t>TOP BANNER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Size: 320 x 100 px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7490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Display: 15s rotation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06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Placement: Home feed — above notifications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663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Price: 1,500 $SKR / week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212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Upload from phone gallery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2377440"/>
            <a:ext cx="3566160" cy="34747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26517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66"/>
                </a:solidFill>
                <a:latin typeface="Calibri"/>
              </a:defRPr>
            </a:pPr>
            <a:r>
              <a:t>BOTTOM BANNER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2918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Size: 320 x 100 px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7490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Display: 15s rotation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Placement: Home feed — below notifications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663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Price: 800 $SKR / week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212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Upload from phone gallery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8160" y="2377440"/>
            <a:ext cx="3566160" cy="34747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80" y="246888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0D12"/>
                </a:solidFill>
                <a:latin typeface="Calibri"/>
              </a:defRPr>
            </a:pPr>
            <a:r>
              <a:t>PREMIUM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6517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9F66"/>
                </a:solidFill>
                <a:latin typeface="Calibri"/>
              </a:defRPr>
            </a:pPr>
            <a:r>
              <a:t>LOCK SCREEN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918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Size: 1080 x 1920 px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37490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Display: Full screen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42062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Placement: Android lock screen — Swipe-to-Earn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46634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Price: 2,000 $SKR / week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52120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4EC9B0"/>
                </a:solidFill>
                <a:latin typeface="Calibri"/>
              </a:defRPr>
            </a:pPr>
            <a:r>
              <a:t>Upload from phone gallery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217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All creatives uploaded to Firebase Storage and reviewed by admin before going live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TECH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Full-Stack Solana Mobile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3566160" cy="43891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  <a:latin typeface="Calibri"/>
              </a:defRPr>
            </a:pPr>
            <a:r>
              <a:t>MOBILE APP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651760"/>
            <a:ext cx="3017520" cy="25400"/>
          </a:xfrm>
          <a:prstGeom prst="rect">
            <a:avLst/>
          </a:prstGeom>
          <a:solidFill>
            <a:srgbClr val="CC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926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React Native + NativeWind (Tailwind)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83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Zustand state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04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Mobile Wallet Adapter 2.0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976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Android Native Lock Screen 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754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Cloud Messaging (Push)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212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Storage (Ad uploads)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011680"/>
            <a:ext cx="3566160" cy="4389120"/>
          </a:xfrm>
          <a:prstGeom prst="roundRect">
            <a:avLst/>
          </a:prstGeom>
          <a:solidFill>
            <a:srgbClr val="181828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  <a:latin typeface="Calibri"/>
              </a:defRPr>
            </a:pPr>
            <a:r>
              <a:t>BLOCKCHAIN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2651760"/>
            <a:ext cx="3017520" cy="25400"/>
          </a:xfrm>
          <a:prstGeom prst="rect">
            <a:avLst/>
          </a:prstGeom>
          <a:solidFill>
            <a:srgbClr val="CC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2926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Solana Anchor Framework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83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23 smart contract instructions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8404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PDA-based data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2976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$SKR SPL Token (mainnet)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754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Program ID: 33vWX6...C6iY4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212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Devnet deployed, mainnet ready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8160" y="2011680"/>
            <a:ext cx="3566160" cy="4389120"/>
          </a:xfrm>
          <a:prstGeom prst="roundRect">
            <a:avLst/>
          </a:prstGeom>
          <a:solidFill>
            <a:srgbClr val="151522"/>
          </a:solidFill>
          <a:ln w="19050">
            <a:solidFill>
              <a:srgbClr val="CC7A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2194560"/>
            <a:ext cx="3017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  <a:latin typeface="Calibri"/>
              </a:defRPr>
            </a:pPr>
            <a:r>
              <a:t>INFRASTRUCTURE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80" y="2651760"/>
            <a:ext cx="3017520" cy="25400"/>
          </a:xfrm>
          <a:prstGeom prst="rect">
            <a:avLst/>
          </a:prstGeom>
          <a:solidFill>
            <a:srgbClr val="CC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926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Cloud Functions (Backend)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3832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Storage (ad creatives)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8404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Firestore DB + Storage + FCM Push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2976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10 Cloud Functions 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47548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Firebase Hosting (deep-pulse.web.app)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521208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DDDDEE"/>
                </a:solidFill>
                <a:latin typeface="Calibri"/>
              </a:defRPr>
            </a:pPr>
            <a:r>
              <a:t>Security-audited smart contract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SMART CONTRACT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23 On-Chain Instructions — Fully Auditable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2011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148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initialize_platform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880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transfer_admin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update_platform_config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2011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74720" y="2148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HUBS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create_hub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880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renew_hub_subscription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set_hub_verified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2011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148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SUBSCRIPTIONS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subscribe_to_hub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880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unsubscribe_from_hub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set_hub_active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44000" y="2011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26880" y="2148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DEPOSITS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2560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create_deposit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2880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approve_feedback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26880" y="3200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approve_talent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65760" y="4297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AD SLOTS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purchase_ad_slot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166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reject_deposit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5486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update_ad_slot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5806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expire_ad_slot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291840" y="4297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7472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DAO BOOST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7472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create_boost_vault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74720" y="5166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contribute_boost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474720" y="5486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complete_vault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580644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cancel_vault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4297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VAULTS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expire_vault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5166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claim_vault_refund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4297680"/>
            <a:ext cx="2743200" cy="20116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326880" y="44348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0" y="48463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init_user_score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26880" y="51663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approve_dao_proposal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326880" y="54864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withdraw_treasury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$SKR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Token Economics &amp; Revenue Flows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029200" cy="18288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9456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9F66"/>
                </a:solidFill>
                <a:latin typeface="Calibri"/>
              </a:defRPr>
            </a:pPr>
            <a:r>
              <a:t>$SKR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517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AAABB"/>
                </a:solidFill>
                <a:latin typeface="Calibri"/>
              </a:defRPr>
            </a:pPr>
            <a:r>
              <a:t>SPL Token on Solana Mainnet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AAAABB"/>
                </a:solidFill>
                <a:latin typeface="Consolas"/>
              </a:defRPr>
            </a:pPr>
            <a:r>
              <a:t>Mint: SKRbvo6Gf7GondiT3BbTfuRDPqLWei4j2Qy2NPGZhW3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4251960"/>
            <a:ext cx="45720" cy="36576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20624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Ad Slot Purchase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4805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Brands pay $SKR to buy banner + lock screen placements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892040"/>
            <a:ext cx="45720" cy="36576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48463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DAO Boost Contributions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1206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Users stake $SKR into community vaults — 5% fee to treasury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532120"/>
            <a:ext cx="45720" cy="36576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486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Feedback Deposits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76072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300 $SKR deposit to submit feedback — prevents spam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6172200"/>
            <a:ext cx="45720" cy="36576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61264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Calibri"/>
              </a:defRPr>
            </a:pPr>
            <a:r>
              <a:t>Platform Fees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64008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AAAABB"/>
                </a:solidFill>
                <a:latin typeface="Calibri"/>
              </a:defRPr>
            </a:pPr>
            <a:r>
              <a:t>Configurable fee on all marketplace transactions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0" y="20116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9F66"/>
                </a:solidFill>
                <a:latin typeface="Calibri"/>
              </a:defRPr>
            </a:pPr>
            <a:r>
              <a:t>REVENUE SPLIT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0" y="2560320"/>
            <a:ext cx="4389120" cy="7315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858000" y="2560320"/>
            <a:ext cx="73152" cy="7315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0" y="26974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F9F66"/>
                </a:solidFill>
                <a:latin typeface="Calibri"/>
              </a:defRPr>
            </a:pPr>
            <a:r>
              <a:t>95%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7432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Brand Revenue (DAO Boost)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0" y="3474720"/>
            <a:ext cx="4389120" cy="7315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858000" y="3474720"/>
            <a:ext cx="73152" cy="731520"/>
          </a:xfrm>
          <a:prstGeom prst="rect">
            <a:avLst/>
          </a:prstGeom>
          <a:solidFill>
            <a:srgbClr val="4EC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32320" y="36118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4EC9B0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6576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Platform Treasury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4389120"/>
            <a:ext cx="4389120" cy="7315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858000" y="4389120"/>
            <a:ext cx="73152" cy="731520"/>
          </a:xfrm>
          <a:prstGeom prst="rect">
            <a:avLst/>
          </a:prstGeom>
          <a:solidFill>
            <a:srgbClr val="87C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32320" y="45262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87CEFA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5720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Ad Slot Revenue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0" y="5303520"/>
            <a:ext cx="4389120" cy="7315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858000" y="5303520"/>
            <a:ext cx="73152" cy="731520"/>
          </a:xfrm>
          <a:prstGeom prst="rect">
            <a:avLst/>
          </a:prstGeom>
          <a:solidFill>
            <a:srgbClr val="AAAA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0" y="544068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AAAABB"/>
                </a:solidFill>
                <a:latin typeface="Calibri"/>
              </a:defRPr>
            </a:pPr>
            <a:r>
              <a:t>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412480" y="548640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DDDDEE"/>
                </a:solidFill>
                <a:latin typeface="Calibri"/>
              </a:defRPr>
            </a:pPr>
            <a:r>
              <a:t>Feedback Deposits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The Solana Mobile Ecosystem Is Exploding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265176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21945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2.5M+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26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Solana Mobile Users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011680"/>
            <a:ext cx="265176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6B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21945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6B6B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2926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Notification Solutions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2011680"/>
            <a:ext cx="265176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4EC9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21945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4EC9B0"/>
                </a:solidFill>
                <a:latin typeface="Calibri"/>
              </a:defRPr>
            </a:pPr>
            <a:r>
              <a:t>$225B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2926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Mobile Ad Market (2025)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35440" y="2011680"/>
            <a:ext cx="2651760" cy="16459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87CE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2194560"/>
            <a:ext cx="26517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87CEFA"/>
                </a:solidFill>
                <a:latin typeface="Calibri"/>
              </a:defRPr>
            </a:pPr>
            <a:r>
              <a:t>140M+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2926080"/>
            <a:ext cx="2651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alibri"/>
              </a:defRPr>
            </a:pPr>
            <a:r>
              <a:t>Active Solana Wallets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9F66"/>
                </a:solidFill>
                <a:latin typeface="Calibri"/>
              </a:defRPr>
            </a:pPr>
            <a:r>
              <a:t>WHY NOW?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663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Solana Seeker launching 2026 — next-gen crypto phone, millions of pre-orders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09160"/>
            <a:ext cx="45720" cy="2743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51206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No dedicated notification infrastructure exists for Solana Mobile dApps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5166360"/>
            <a:ext cx="45720" cy="2743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577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Mobile advertising shifting to Web3 — users demand ownership of attention data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5623560"/>
            <a:ext cx="45720" cy="2743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60350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DDDDEE"/>
                </a:solidFill>
                <a:latin typeface="Calibri"/>
              </a:defRPr>
            </a:pPr>
            <a:r>
              <a:t>Solana TPS + low fees make micro-reward systems (Swipe-to-Earn) economically viable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6080760"/>
            <a:ext cx="45720" cy="274320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COMPETITIVE ADVANTAGE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First-Mover in Solana Mobile Notifications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2011680"/>
            <a:ext cx="11247120" cy="548640"/>
          </a:xfrm>
          <a:prstGeom prst="roundRect">
            <a:avLst/>
          </a:prstGeom>
          <a:solidFill>
            <a:srgbClr val="222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FF9F66"/>
                </a:solidFill>
                <a:latin typeface="Calibri"/>
              </a:defRPr>
            </a:pPr>
            <a:r>
              <a:t>DEEP PULSE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5B65EA"/>
                </a:solidFill>
                <a:latin typeface="Calibri"/>
              </a:defRPr>
            </a:pPr>
            <a:r>
              <a:t>Discord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4A1DE"/>
                </a:solidFill>
                <a:latin typeface="Calibri"/>
              </a:defRPr>
            </a:pPr>
            <a:r>
              <a:t>Telegram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0" y="210312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D548EC"/>
                </a:solidFill>
                <a:latin typeface="Calibri"/>
              </a:defRPr>
            </a:pPr>
            <a:r>
              <a:t>Push Protocol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743200"/>
            <a:ext cx="11247120" cy="4114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Solana Mobile Native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2788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Partial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00400"/>
            <a:ext cx="11247120" cy="411480"/>
          </a:xfrm>
          <a:prstGeom prst="roundRect">
            <a:avLst/>
          </a:prstGeom>
          <a:solidFill>
            <a:srgbClr val="0D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246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Lock Screen Ads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0" y="3246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3657600"/>
            <a:ext cx="11247120" cy="4114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703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Swipe-to-Earn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703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0" y="3703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3703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3703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114800"/>
            <a:ext cx="11247120" cy="411480"/>
          </a:xfrm>
          <a:prstGeom prst="roundRect">
            <a:avLst/>
          </a:prstGeom>
          <a:solidFill>
            <a:srgbClr val="0D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605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On-Chain Subscriptions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0" y="41605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4572000"/>
            <a:ext cx="11247120" cy="4114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6177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Token Rewards ($SKR)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0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79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0" y="46177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029200"/>
            <a:ext cx="11247120" cy="411480"/>
          </a:xfrm>
          <a:prstGeom prst="roundRect">
            <a:avLst/>
          </a:prstGeom>
          <a:solidFill>
            <a:srgbClr val="0D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749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Anti-Farming (DEEP Score)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004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98079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0" y="50749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5486400"/>
            <a:ext cx="11247120" cy="4114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55321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Ad Creative Upload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0" y="5532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486400" y="5532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498079" y="5532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55321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5943600"/>
            <a:ext cx="11247120" cy="411480"/>
          </a:xfrm>
          <a:prstGeom prst="roundRect">
            <a:avLst/>
          </a:prstGeom>
          <a:solidFill>
            <a:srgbClr val="0D0D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598932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DAO Community Boost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00400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4EC9B0"/>
                </a:solidFill>
                <a:latin typeface="Calibri"/>
              </a:defRPr>
            </a:pPr>
            <a:r>
              <a:t>YES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0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98079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598932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FF6B6B"/>
                </a:solidFill>
                <a:latin typeface="Calibri"/>
              </a:defRPr>
            </a:pPr>
            <a:r>
              <a:t>NO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9F66"/>
                </a:solidFill>
                <a:latin typeface="Calibri"/>
              </a:defRPr>
            </a:pPr>
            <a: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From Hackathon to Mainnet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2377440"/>
            <a:ext cx="10698480" cy="38100"/>
          </a:xfrm>
          <a:prstGeom prst="rect">
            <a:avLst/>
          </a:prstGeom>
          <a:solidFill>
            <a:srgbClr val="CC7A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54480" y="2286000"/>
            <a:ext cx="228600" cy="228600"/>
          </a:xfrm>
          <a:prstGeom prst="ellipse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9F66"/>
                </a:solidFill>
                <a:latin typeface="Calibri"/>
              </a:defRPr>
            </a:pPr>
            <a:r>
              <a:t>Q1 2026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834640"/>
            <a:ext cx="2651760" cy="347472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9F66"/>
                </a:solidFill>
                <a:latin typeface="Calibri"/>
              </a:defRPr>
            </a:pPr>
            <a:r>
              <a:t>HACKATHON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3017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0D12"/>
                </a:solidFill>
                <a:latin typeface="Calibri"/>
              </a:defRPr>
            </a:pPr>
            <a:r>
              <a:t>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17 screens built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23 smart contract 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10 Cloud Functions deployed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Swipe-to-Earn prototype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DEEP Score v2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Firebase Hosting LIVE</a:t>
            </a:r>
          </a:p>
        </p:txBody>
      </p:sp>
      <p:sp>
        <p:nvSpPr>
          <p:cNvPr id="17" name="Oval 16"/>
          <p:cNvSpPr/>
          <p:nvPr/>
        </p:nvSpPr>
        <p:spPr>
          <a:xfrm>
            <a:off x="4480560" y="2286000"/>
            <a:ext cx="228600" cy="228600"/>
          </a:xfrm>
          <a:prstGeom prst="ellipse">
            <a:avLst/>
          </a:prstGeom>
          <a:solidFill>
            <a:srgbClr val="4EC9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4EC9B0"/>
                </a:solidFill>
                <a:latin typeface="Calibri"/>
              </a:defRPr>
            </a:pPr>
            <a:r>
              <a:t>Q2 2026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834640"/>
            <a:ext cx="2651760" cy="34747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EC9B0"/>
                </a:solidFill>
                <a:latin typeface="Calibri"/>
              </a:defRPr>
            </a:pPr>
            <a:r>
              <a:t>LAUNCH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0175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0D0D12"/>
                </a:solidFill>
                <a:latin typeface="Calibri"/>
              </a:defRPr>
            </a:pPr>
            <a:r>
              <a:t>NEXT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Smart contract mainnet deploy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66160" y="3840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dApp Store submission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Beta with 500 users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5 launch partner hubs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Full admin dashboard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Analytics API already LIVE</a:t>
            </a:r>
          </a:p>
        </p:txBody>
      </p:sp>
      <p:sp>
        <p:nvSpPr>
          <p:cNvPr id="28" name="Oval 27"/>
          <p:cNvSpPr/>
          <p:nvPr/>
        </p:nvSpPr>
        <p:spPr>
          <a:xfrm>
            <a:off x="7406640" y="2286000"/>
            <a:ext cx="228600" cy="228600"/>
          </a:xfrm>
          <a:prstGeom prst="ellipse">
            <a:avLst/>
          </a:prstGeom>
          <a:solidFill>
            <a:srgbClr val="87CE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87CEFA"/>
                </a:solidFill>
                <a:latin typeface="Calibri"/>
              </a:defRPr>
            </a:pPr>
            <a:r>
              <a:t>Q3 2026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834640"/>
            <a:ext cx="2651760" cy="34747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7CEFA"/>
                </a:solidFill>
                <a:latin typeface="Calibri"/>
              </a:defRPr>
            </a:pPr>
            <a:r>
              <a:t>GROWTH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9224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50+ notification hubs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92240" y="3840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10,000+ active users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Brand self-serve portal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Cross-chain notifications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9224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Advanced analytics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9224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Revenue optimization</a:t>
            </a:r>
          </a:p>
        </p:txBody>
      </p:sp>
      <p:sp>
        <p:nvSpPr>
          <p:cNvPr id="38" name="Oval 37"/>
          <p:cNvSpPr/>
          <p:nvPr/>
        </p:nvSpPr>
        <p:spPr>
          <a:xfrm>
            <a:off x="10332720" y="2286000"/>
            <a:ext cx="228600" cy="228600"/>
          </a:xfrm>
          <a:prstGeom prst="ellipse">
            <a:avLst/>
          </a:prstGeom>
          <a:solidFill>
            <a:srgbClr val="D548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35440" y="1828800"/>
            <a:ext cx="2560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D548EC"/>
                </a:solidFill>
                <a:latin typeface="Calibri"/>
              </a:defRPr>
            </a:pPr>
            <a:r>
              <a:t>Q4 2026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235440" y="2834640"/>
            <a:ext cx="2651760" cy="347472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18320" y="292608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D548EC"/>
                </a:solidFill>
                <a:latin typeface="Calibri"/>
              </a:defRPr>
            </a:pPr>
            <a:r>
              <a:t>SCALE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18320" y="34747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100K+ users target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18320" y="384048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Premium subscription tier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4206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SDK for dApp 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418320" y="4572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Token governance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418320" y="49377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International expansion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0" y="5303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DDDDEE"/>
                </a:solidFill>
                <a:latin typeface="Calibri"/>
              </a:defRPr>
            </a:pPr>
            <a:r>
              <a:t>Series A fundraise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0D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FF9F66"/>
                </a:solidFill>
                <a:latin typeface="Calibri Light"/>
              </a:defRPr>
            </a:pPr>
            <a:r>
              <a:t>DEEP PULSE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2860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DDDDEE"/>
                </a:solidFill>
                <a:latin typeface="Calibri"/>
              </a:defRPr>
            </a:pPr>
            <a:r>
              <a:t>The Decentralized Notification Hub for Solana Mobile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200400"/>
            <a:ext cx="2194560" cy="13716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32918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840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Smart Contract</a:t>
            </a:r>
            <a:br/>
            <a:r>
              <a:t>Instructions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931920" y="3200400"/>
            <a:ext cx="2194560" cy="13716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32918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840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Mobile</a:t>
            </a:r>
            <a:br/>
            <a:r>
              <a:t>Screens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3200400"/>
            <a:ext cx="2194560" cy="13716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32918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840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Reward</a:t>
            </a:r>
            <a:br/>
            <a:r>
              <a:t>Tiers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52560" y="3200400"/>
            <a:ext cx="2194560" cy="1371600"/>
          </a:xfrm>
          <a:prstGeom prst="roundRect">
            <a:avLst/>
          </a:prstGeom>
          <a:solidFill>
            <a:srgbClr val="1A1A24"/>
          </a:solidFill>
          <a:ln w="19050">
            <a:solidFill>
              <a:srgbClr val="FF9F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52560" y="329184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9F66"/>
                </a:solidFill>
                <a:latin typeface="Calibri"/>
              </a:defRPr>
            </a:pPr>
            <a:r>
              <a:t>$0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52560" y="384048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AAABB"/>
                </a:solidFill>
                <a:latin typeface="Calibri"/>
              </a:defRPr>
            </a:pPr>
            <a:r>
              <a:t>Monthly</a:t>
            </a:r>
            <a:br/>
            <a:r>
              <a:t>Server Cost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5029200"/>
            <a:ext cx="7589520" cy="1097280"/>
          </a:xfrm>
          <a:prstGeom prst="roundRect">
            <a:avLst/>
          </a:prstGeom>
          <a:solidFill>
            <a:srgbClr val="1A1A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3200" y="51206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DDDDEE"/>
                </a:solidFill>
                <a:latin typeface="Calibri"/>
              </a:defRPr>
            </a:pPr>
            <a:r>
              <a:t>GitHub:  github.com/DEEPBRANDINGDOOH/DEEP-PULSE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548640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onsolas"/>
              </a:defRPr>
            </a:pPr>
            <a:r>
              <a:t>$SKR Token:  SKRbvo6Gf7GondiT3BbTfuRDPqLWei4j2Qy2NPGZhW3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580644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AAABB"/>
                </a:solidFill>
                <a:latin typeface="Consolas"/>
              </a:defRPr>
            </a:pPr>
            <a:r>
              <a:t>Program:  33vWX6efKQSZ98dk3bnbHUjEYhB7LyvbH4ndpKjC6iY4
Live:  deep-pulse.web.app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803136"/>
            <a:ext cx="12191695" cy="54864"/>
          </a:xfrm>
          <a:prstGeom prst="rect">
            <a:avLst/>
          </a:prstGeom>
          <a:solidFill>
            <a:srgbClr val="FF9F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